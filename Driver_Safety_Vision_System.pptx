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D4159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657600"/>
            <a:ext cx="4114800" cy="4114800"/>
          </a:xfrm>
          <a:prstGeom prst="ellipse">
            <a:avLst/>
          </a:prstGeom>
          <a:solidFill>
            <a:srgbClr val="FF6B35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GUIDANCE  ·  DEGGENDORF INSTITUTE OF TECHNOLOGY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8288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Safety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13232" y="2697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System </a:t>
            </a:r>
            <a:pPr indent="0" marL="0">
              <a:buNone/>
            </a:pPr>
            <a:r>
              <a:rPr lang="en-US" sz="3400" b="1" i="1" dirty="0">
                <a:solidFill>
                  <a:srgbClr val="C7D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IMX500 Edition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real-time, on-sensor AI monitoring system that watches for phone distraction, drowsiness, and masked-eye stillness — and alerts the driver before it's too late.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892040"/>
            <a:ext cx="2331720" cy="566928"/>
          </a:xfrm>
          <a:prstGeom prst="roundRect">
            <a:avLst>
              <a:gd name="adj" fmla="val 16129"/>
            </a:avLst>
          </a:prstGeom>
          <a:solidFill>
            <a:srgbClr val="2D4159">
              <a:alpha val="70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5010912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61872" y="48920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distraction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46120" y="4892040"/>
            <a:ext cx="2331720" cy="566928"/>
          </a:xfrm>
          <a:prstGeom prst="roundRect">
            <a:avLst>
              <a:gd name="adj" fmla="val 16129"/>
            </a:avLst>
          </a:prstGeom>
          <a:solidFill>
            <a:srgbClr val="2D4159">
              <a:alpha val="70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501091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76472" y="48920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Drowsiness (EAR)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760720" y="4892040"/>
            <a:ext cx="2331720" cy="566928"/>
          </a:xfrm>
          <a:prstGeom prst="roundRect">
            <a:avLst>
              <a:gd name="adj" fmla="val 16129"/>
            </a:avLst>
          </a:prstGeom>
          <a:solidFill>
            <a:srgbClr val="2D4159">
              <a:alpha val="7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501091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91072" y="48920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Sunglasses + stillness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73152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 ·  Sony IMX500 AI Camera  ·  MediaPipe  ·  Ultralytics YOLO</a:t>
            </a:r>
            <a:endParaRPr lang="en-US" sz="11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969264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driver monitoring pipeline running entirely on a Raspberry Pi with the Sony IMX500 AI camera.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777240" cy="777240"/>
          </a:xfrm>
          <a:prstGeom prst="ellipse">
            <a:avLst/>
          </a:prstGeom>
          <a:solidFill>
            <a:srgbClr val="FFF1E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999" y="236943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 Distraction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566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IMX500 on-sensor object detection flags a COCO “cell phone” held near the driver's face.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60120" y="466344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FFF1EA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4663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Beep after 2s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187452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2194560"/>
            <a:ext cx="777240" cy="777240"/>
          </a:xfrm>
          <a:prstGeom prst="ellipse">
            <a:avLst/>
          </a:prstGeom>
          <a:solidFill>
            <a:srgbClr val="FFF1E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319" y="2369439"/>
            <a:ext cx="427482" cy="4274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Drowsiness (Eyes)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63440" y="3566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FaceMesh tracks the Eye Aspect Ratio (EAR) across 6 landmarks per eye.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663440" y="466344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FFF1EA"/>
          </a:solidFill>
          <a:ln/>
        </p:spPr>
      </p:sp>
      <p:sp>
        <p:nvSpPr>
          <p:cNvPr id="17" name="Text 13"/>
          <p:cNvSpPr/>
          <p:nvPr/>
        </p:nvSpPr>
        <p:spPr>
          <a:xfrm>
            <a:off x="4663440" y="4663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Beep after 2s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46720" y="187452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66760" y="2194560"/>
            <a:ext cx="777240" cy="777240"/>
          </a:xfrm>
          <a:prstGeom prst="ellipse">
            <a:avLst/>
          </a:prstGeom>
          <a:solidFill>
            <a:srgbClr val="FFF1E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639" y="2369439"/>
            <a:ext cx="427482" cy="42748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6676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Sunglasses + Stillness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366760" y="3566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EAR is unreliable, MediaPipe Holistic tracks nose movement instead.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366760" y="466344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FFF1EA"/>
          </a:solidFill>
          <a:ln/>
        </p:spPr>
      </p:sp>
      <p:sp>
        <p:nvSpPr>
          <p:cNvPr id="24" name="Text 19"/>
          <p:cNvSpPr/>
          <p:nvPr/>
        </p:nvSpPr>
        <p:spPr>
          <a:xfrm>
            <a:off x="8366760" y="4663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→ beep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 Vision System — IMX500 Edition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&amp; Software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locally on-device — no cloud inference required.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12182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488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1305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005840" y="2935224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1234440" y="27706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(tested platform)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005840" y="3648456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34838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AI Camera — Sony IMX500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1005840" y="4361688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419709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/ audio output for beep + TTS alerts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82880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4884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86600" y="21305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537960" y="2935224"/>
            <a:ext cx="91440" cy="9144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7" name="Text 13"/>
          <p:cNvSpPr/>
          <p:nvPr/>
        </p:nvSpPr>
        <p:spPr>
          <a:xfrm>
            <a:off x="6766560" y="2788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— required for the IMX500 toolchain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537960" y="3447288"/>
            <a:ext cx="91440" cy="9144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9" name="Text 15"/>
          <p:cNvSpPr/>
          <p:nvPr/>
        </p:nvSpPr>
        <p:spPr>
          <a:xfrm>
            <a:off x="6766560" y="33009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Picamera2 — camera &amp; IMX500 interface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537960" y="3959352"/>
            <a:ext cx="91440" cy="9144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21" name="Text 17"/>
          <p:cNvSpPr/>
          <p:nvPr/>
        </p:nvSpPr>
        <p:spPr>
          <a:xfrm>
            <a:off x="6766560" y="38130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— FaceMesh &amp; Holistic landmarks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537960" y="4471416"/>
            <a:ext cx="91440" cy="9144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23" name="Text 19"/>
          <p:cNvSpPr/>
          <p:nvPr/>
        </p:nvSpPr>
        <p:spPr>
          <a:xfrm>
            <a:off x="6766560" y="43251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— frame processing &amp; overlays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537960" y="4983480"/>
            <a:ext cx="91440" cy="9144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25" name="Text 21"/>
          <p:cNvSpPr/>
          <p:nvPr/>
        </p:nvSpPr>
        <p:spPr>
          <a:xfrm>
            <a:off x="6766560" y="483717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espeak — text-to-speech voice prompts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537960" y="5495544"/>
            <a:ext cx="91440" cy="9144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27" name="Text 23"/>
          <p:cNvSpPr/>
          <p:nvPr/>
        </p:nvSpPr>
        <p:spPr>
          <a:xfrm>
            <a:off x="6766560" y="5349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paplay / PulseAudio — beep alerts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 Vision System — IMX500 Edition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camera frame to driver alert, end to end.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19656" y="3246120"/>
            <a:ext cx="8522208" cy="0"/>
          </a:xfrm>
          <a:prstGeom prst="line">
            <a:avLst/>
          </a:prstGeom>
          <a:noFill/>
          <a:ln w="25400">
            <a:solidFill>
              <a:srgbClr val="C7CED9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882396" y="237744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99616" y="2578608"/>
            <a:ext cx="640080" cy="640080"/>
          </a:xfrm>
          <a:prstGeom prst="ellipse">
            <a:avLst/>
          </a:prstGeom>
          <a:solidFill>
            <a:srgbClr val="EDF1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634" y="2722626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72868" y="2231136"/>
            <a:ext cx="329184" cy="329184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73836" y="3291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55548" y="358444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Picamera2 grabs the live frame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012948" y="237744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0168" y="2578608"/>
            <a:ext cx="640080" cy="640080"/>
          </a:xfrm>
          <a:prstGeom prst="ellipse">
            <a:avLst/>
          </a:prstGeom>
          <a:solidFill>
            <a:srgbClr val="EDF1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186" y="2722626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03420" y="2231136"/>
            <a:ext cx="329184" cy="329184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104388" y="3291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On-sensor inference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086100" y="358444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IMX500 runs the detection model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143500" y="237744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760720" y="2578608"/>
            <a:ext cx="640080" cy="640080"/>
          </a:xfrm>
          <a:prstGeom prst="ellipse">
            <a:avLst/>
          </a:prstGeom>
          <a:solidFill>
            <a:srgbClr val="EDF1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738" y="2722626"/>
            <a:ext cx="352044" cy="3520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33972" y="2231136"/>
            <a:ext cx="329184" cy="329184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234940" y="3291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Landmark tracking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216652" y="358444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FaceMesh / Holistic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7274052" y="237744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891272" y="2578608"/>
            <a:ext cx="640080" cy="640080"/>
          </a:xfrm>
          <a:prstGeom prst="ellipse">
            <a:avLst/>
          </a:prstGeom>
          <a:solidFill>
            <a:srgbClr val="EDF1F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5290" y="2722626"/>
            <a:ext cx="352044" cy="3520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764524" y="2231136"/>
            <a:ext cx="329184" cy="329184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365492" y="3291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selection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347204" y="358444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box = closest = driver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9404604" y="237744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0021824" y="2578608"/>
            <a:ext cx="640080" cy="640080"/>
          </a:xfrm>
          <a:prstGeom prst="ellipse">
            <a:avLst/>
          </a:prstGeom>
          <a:solidFill>
            <a:srgbClr val="EDF1F6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5842" y="2722626"/>
            <a:ext cx="352044" cy="3520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895076" y="2231136"/>
            <a:ext cx="329184" cy="329184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9496044" y="3291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9477756" y="3584448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Beep / voice prompt if triggered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40080" y="461772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EEF2F6"/>
          </a:solidFill>
          <a:ln/>
        </p:spPr>
      </p:sp>
      <p:sp>
        <p:nvSpPr>
          <p:cNvPr id="36" name="Text 29"/>
          <p:cNvSpPr/>
          <p:nvPr/>
        </p:nvSpPr>
        <p:spPr>
          <a:xfrm>
            <a:off x="914400" y="48006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selection logic: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multiple people are visible, the system keeps only the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bounding box per class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(closest to camera) as the driver. Boxes smaller than </a:t>
            </a:r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MIN_DRIVER_BOX_AREA = 4000 px²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treated as background.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 Vision System — IMX500 Edition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Phone Distraction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IMX500 detects “cell phone” objects on-sensor. If a phone is found near the driver's face for longer than the time limit, an audible alert fires.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880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81635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distance &lt; PHONE_FACE_DIST (200 px)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1071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334670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difference &lt; PHONE_FACE_VDIFF (120 px)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41064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387705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held for ≥ PHONE_TIME_LIMIT (2.0 s)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640080" y="4608576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121826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764024"/>
            <a:ext cx="329184" cy="3291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5880" y="460857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beep fires once the 2-second threshold is crossed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6858000" y="1371600"/>
            <a:ext cx="46634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8549640" y="1874520"/>
            <a:ext cx="1280160" cy="1280160"/>
          </a:xfrm>
          <a:prstGeom prst="ellipse">
            <a:avLst/>
          </a:prstGeom>
          <a:solidFill>
            <a:srgbClr val="FFF1EA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7676" y="2162556"/>
            <a:ext cx="704088" cy="7040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132320" y="3566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PHONE_FACE_DIST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7132320" y="3886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px</a:t>
            </a:r>
            <a:endParaRPr lang="en-US" sz="3400" dirty="0"/>
          </a:p>
        </p:txBody>
      </p:sp>
      <p:sp>
        <p:nvSpPr>
          <p:cNvPr id="19" name="Shape 12"/>
          <p:cNvSpPr/>
          <p:nvPr/>
        </p:nvSpPr>
        <p:spPr>
          <a:xfrm>
            <a:off x="7406640" y="4663440"/>
            <a:ext cx="3566160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7132320" y="4800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PHONE_TIME_LIMIT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7132320" y="5120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 sec</a:t>
            </a:r>
            <a:endParaRPr lang="en-US" sz="3400" dirty="0"/>
          </a:p>
        </p:txBody>
      </p:sp>
      <p:sp>
        <p:nvSpPr>
          <p:cNvPr id="22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 Vision System — IMX500 Edition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Drowsiness — Eye Aspect Ratio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FaceMesh extracts 6 landmarks per eye. The Eye Aspect Ratio (EAR) measures how open the eyes are — it drops sharply when eyes close.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760720" cy="1143000"/>
          </a:xfrm>
          <a:prstGeom prst="roundRect">
            <a:avLst>
              <a:gd name="adj" fmla="val 6400"/>
            </a:avLst>
          </a:prstGeom>
          <a:solidFill>
            <a:srgbClr val="12182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  =  ( |p2−p6| + |p3−p5| )  ÷  ( 2 × |p1−p4| )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59359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automatically when sunglasses are detected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605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409651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 across both left and right eye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6344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459943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the moment eyes reopen — no lingering alert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858000" y="1188720"/>
            <a:ext cx="4663440" cy="484632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8595360" y="1645920"/>
            <a:ext cx="1188720" cy="1188720"/>
          </a:xfrm>
          <a:prstGeom prst="ellipse">
            <a:avLst/>
          </a:prstGeom>
          <a:solidFill>
            <a:srgbClr val="FFF1EA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2822" y="1913382"/>
            <a:ext cx="653796" cy="6537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32320" y="3154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EAR_THRESHOLD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7132320" y="34747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0.20</a:t>
            </a:r>
            <a:endParaRPr lang="en-US" sz="3800" dirty="0"/>
          </a:p>
        </p:txBody>
      </p:sp>
      <p:sp>
        <p:nvSpPr>
          <p:cNvPr id="17" name="Text 11"/>
          <p:cNvSpPr/>
          <p:nvPr/>
        </p:nvSpPr>
        <p:spPr>
          <a:xfrm>
            <a:off x="713232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considered closed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7406640" y="4709160"/>
            <a:ext cx="3566160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7132320" y="4846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EYE_TIME_LIMIT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132320" y="5166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 sec → alert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 Vision System — IMX500 Edition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Sunglasses + Head Stillness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sunglasses make eye-tracking unreliable, the system falls back to nose-movement tracking via MediaPipe Holistic.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924812" y="2514600"/>
            <a:ext cx="8311896" cy="0"/>
          </a:xfrm>
          <a:prstGeom prst="line">
            <a:avLst/>
          </a:prstGeom>
          <a:noFill/>
          <a:ln w="25400">
            <a:solidFill>
              <a:srgbClr val="C7CED9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21792" y="19659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6192" y="2130552"/>
            <a:ext cx="777240" cy="777240"/>
          </a:xfrm>
          <a:prstGeom prst="ellipse">
            <a:avLst/>
          </a:prstGeom>
          <a:solidFill>
            <a:srgbClr val="EDF1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0502" y="2324862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990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3232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Sunglasses detected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58952" y="35935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IMX500 sunglasses class fires; EAR check is paused.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92424" y="19659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06824" y="2130552"/>
            <a:ext cx="777240" cy="777240"/>
          </a:xfrm>
          <a:prstGeom prst="ellipse">
            <a:avLst/>
          </a:prstGeom>
          <a:solidFill>
            <a:srgbClr val="FFF1E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134" y="2324862"/>
            <a:ext cx="388620" cy="3886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83864" y="2990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483864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seconds still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529584" y="35935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Nose moves &lt; 3 px/frame for STILL_VOICE_DELAY = 5.0 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63056" y="19659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77456" y="2130552"/>
            <a:ext cx="777240" cy="777240"/>
          </a:xfrm>
          <a:prstGeom prst="ellipse">
            <a:avLst/>
          </a:prstGeom>
          <a:solidFill>
            <a:srgbClr val="EDF1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766" y="2324862"/>
            <a:ext cx="388620" cy="3886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54496" y="2990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254496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prompt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300216" y="35935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“Hello, how are you doing?” plays via espeak TTS.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8933688" y="19659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848088" y="2130552"/>
            <a:ext cx="777240" cy="777240"/>
          </a:xfrm>
          <a:prstGeom prst="ellipse">
            <a:avLst/>
          </a:prstGeom>
          <a:solidFill>
            <a:srgbClr val="FFF1E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2398" y="2324862"/>
            <a:ext cx="388620" cy="3886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25128" y="2990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025128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3s later → beep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9070848" y="35935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response after POST_VOICE_DELAY = 3.0 s triggers a beep.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40080" y="461772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EEF2F6"/>
          </a:solidFill>
          <a:ln/>
        </p:spPr>
      </p:sp>
      <p:sp>
        <p:nvSpPr>
          <p:cNvPr id="30" name="Text 24"/>
          <p:cNvSpPr/>
          <p:nvPr/>
        </p:nvSpPr>
        <p:spPr>
          <a:xfrm>
            <a:off x="914400" y="47548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MOVEMENT_THRESHOLD = 3 px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defines “not moving.” If the driver moves before the voice prompt or beep fires, the whole sequence resets immediately — including the per-channel beep cooldown.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 Vision System — IMX500 Edition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Thresholds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tunable constants live at the top of driver_safety.py.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5943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Constant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EAR_THRESHOLD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6B35"/>
                          </a:solidFill>
                        </a:rPr>
                        <a:t>0.20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677"/>
                          </a:solidFill>
                        </a:rPr>
                        <a:t>EAR below this → eyes closed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PHONE_TIME_LIMIT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6B35"/>
                          </a:solidFill>
                        </a:rPr>
                        <a:t>2.0 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677"/>
                          </a:solidFill>
                        </a:rPr>
                        <a:t>Phone near face before alert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EYE_TIME_LIMIT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6B35"/>
                          </a:solidFill>
                        </a:rPr>
                        <a:t>2.0 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677"/>
                          </a:solidFill>
                        </a:rPr>
                        <a:t>Eyes closed before drowsy alert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STILL_VOICE_DELAY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6B35"/>
                          </a:solidFill>
                        </a:rPr>
                        <a:t>5.0 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677"/>
                          </a:solidFill>
                        </a:rPr>
                        <a:t>Stillness before voice prompt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POST_VOICE_DELAY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6B35"/>
                          </a:solidFill>
                        </a:rPr>
                        <a:t>3.0 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677"/>
                          </a:solidFill>
                        </a:rPr>
                        <a:t>After voice, before beep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MOVEMENT_THRESHOLD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6B35"/>
                          </a:solidFill>
                        </a:rPr>
                        <a:t>3 px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677"/>
                          </a:solidFill>
                        </a:rPr>
                        <a:t>Pixel delta = “not moving”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PHONE_FACE_DIST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6B35"/>
                          </a:solidFill>
                        </a:rPr>
                        <a:t>200 px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677"/>
                          </a:solidFill>
                        </a:rPr>
                        <a:t>Max distance for “phone near face”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MIN_DRIVER_BOX_AREA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6B35"/>
                          </a:solidFill>
                        </a:rPr>
                        <a:t>4000 px²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677"/>
                          </a:solidFill>
                        </a:rPr>
                        <a:t>Min box area to count as driver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BEEP_COOLDOWN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6B35"/>
                          </a:solidFill>
                        </a:rPr>
                        <a:t>2.0 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677"/>
                          </a:solidFill>
                        </a:rPr>
                        <a:t>Seconds between repeated beeps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 Vision System — IMX500 Edition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a Custom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YOLOv8n on three domain-specific classes using Google Colab.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91840" cy="4206240"/>
          </a:xfrm>
          <a:prstGeom prst="roundRect">
            <a:avLst>
              <a:gd name="adj" fmla="val 2222"/>
            </a:avLst>
          </a:prstGeom>
          <a:solidFill>
            <a:srgbClr val="12182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7568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Classes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60120" y="2743200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81328" y="26883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481328" y="2944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phone near face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60120" y="3456432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81328" y="34015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481328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Driver's face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60120" y="4169664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481328" y="4114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sunglasses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481328" y="4370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Worn by driver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14400" y="4928616"/>
            <a:ext cx="2743200" cy="0"/>
          </a:xfrm>
          <a:prstGeom prst="line">
            <a:avLst/>
          </a:prstGeom>
          <a:noFill/>
          <a:ln w="12700">
            <a:solidFill>
              <a:srgbClr val="3B4D6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0120" y="5065776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Sunglasses are oversampled ×8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correct class imbalance before the 80/10/10 train/val/test split.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20624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 (YOLOv8n)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2194560"/>
          <a:ext cx="7315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219456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epochs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8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patience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8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imgsz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8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batch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8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degrees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8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translate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8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scale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8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shear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8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fliplr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8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mosaic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8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mixup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8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copy_paste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8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4206240" y="4663440"/>
            <a:ext cx="7315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4892040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892040" y="4800600"/>
            <a:ext cx="6355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best.pt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saved to /content/DSVS_training/driver_monitoring/ and auto-downloaded for IMX500 export. The IMX500 supports only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 Vision System — IMX500 Edition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&amp; Deployment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trained weights to running inference on the IMX500 sensor.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154680" y="2697480"/>
            <a:ext cx="6126480" cy="0"/>
          </a:xfrm>
          <a:prstGeom prst="line">
            <a:avLst/>
          </a:prstGeom>
          <a:noFill/>
          <a:ln w="25400">
            <a:solidFill>
              <a:srgbClr val="C7CED9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03120"/>
            <a:ext cx="2185416" cy="329184"/>
          </a:xfrm>
          <a:prstGeom prst="roundRect">
            <a:avLst>
              <a:gd name="adj" fmla="val 16667"/>
            </a:avLst>
          </a:prstGeom>
          <a:solidFill>
            <a:srgbClr val="2D4159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03120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E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4672" y="315468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3547872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YOLOv8n on phone / face / sunglasses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" y="4645152"/>
            <a:ext cx="2185416" cy="384048"/>
          </a:xfrm>
          <a:prstGeom prst="roundRect">
            <a:avLst>
              <a:gd name="adj" fmla="val 14286"/>
            </a:avLst>
          </a:prstGeom>
          <a:solidFill>
            <a:srgbClr val="EEF2F6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4645152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best.pt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29000" y="192024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93592" y="2103120"/>
            <a:ext cx="2185416" cy="329184"/>
          </a:xfrm>
          <a:prstGeom prst="roundRect">
            <a:avLst>
              <a:gd name="adj" fmla="val 16667"/>
            </a:avLst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3593592" y="2103120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only · Py 3.10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9359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E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593592" y="315468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to IMX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93592" y="3547872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yolo_export.py --export_format imx --int8_weights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93592" y="4645152"/>
            <a:ext cx="2185416" cy="384048"/>
          </a:xfrm>
          <a:prstGeom prst="roundRect">
            <a:avLst>
              <a:gd name="adj" fmla="val 14286"/>
            </a:avLst>
          </a:prstGeom>
          <a:solidFill>
            <a:srgbClr val="EEF2F6"/>
          </a:solidFill>
          <a:ln/>
        </p:spPr>
      </p:sp>
      <p:sp>
        <p:nvSpPr>
          <p:cNvPr id="20" name="Text 18"/>
          <p:cNvSpPr/>
          <p:nvPr/>
        </p:nvSpPr>
        <p:spPr>
          <a:xfrm>
            <a:off x="3593592" y="4645152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packerOut.zip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192024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103120"/>
            <a:ext cx="2185416" cy="329184"/>
          </a:xfrm>
          <a:prstGeom prst="roundRect">
            <a:avLst>
              <a:gd name="adj" fmla="val 16667"/>
            </a:avLst>
          </a:prstGeom>
          <a:solidFill>
            <a:srgbClr val="0E9594"/>
          </a:solidFill>
          <a:ln/>
        </p:spPr>
      </p:sp>
      <p:sp>
        <p:nvSpPr>
          <p:cNvPr id="23" name="Text 21"/>
          <p:cNvSpPr/>
          <p:nvPr/>
        </p:nvSpPr>
        <p:spPr>
          <a:xfrm>
            <a:off x="6382512" y="2103120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8251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E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382512" y="315468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to RPK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82512" y="3547872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imx500-package -i packerOut.zip -o ./model_output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82512" y="4645152"/>
            <a:ext cx="2185416" cy="384048"/>
          </a:xfrm>
          <a:prstGeom prst="roundRect">
            <a:avLst>
              <a:gd name="adj" fmla="val 14286"/>
            </a:avLst>
          </a:prstGeom>
          <a:solidFill>
            <a:srgbClr val="EEF2F6"/>
          </a:solidFill>
          <a:ln/>
        </p:spPr>
      </p:sp>
      <p:sp>
        <p:nvSpPr>
          <p:cNvPr id="28" name="Text 26"/>
          <p:cNvSpPr/>
          <p:nvPr/>
        </p:nvSpPr>
        <p:spPr>
          <a:xfrm>
            <a:off x="6382512" y="4645152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network.rpk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06840" y="192024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71432" y="2103120"/>
            <a:ext cx="2185416" cy="329184"/>
          </a:xfrm>
          <a:prstGeom prst="roundRect">
            <a:avLst>
              <a:gd name="adj" fmla="val 16667"/>
            </a:avLst>
          </a:prstGeom>
          <a:solidFill>
            <a:srgbClr val="121826"/>
          </a:solidFill>
          <a:ln/>
        </p:spPr>
      </p:sp>
      <p:sp>
        <p:nvSpPr>
          <p:cNvPr id="31" name="Text 29"/>
          <p:cNvSpPr/>
          <p:nvPr/>
        </p:nvSpPr>
        <p:spPr>
          <a:xfrm>
            <a:off x="9171432" y="2103120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17143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E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9171432" y="315468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71432" y="3547872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run python driver_safety.py --model network.rpk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71432" y="4645152"/>
            <a:ext cx="2185416" cy="384048"/>
          </a:xfrm>
          <a:prstGeom prst="roundRect">
            <a:avLst>
              <a:gd name="adj" fmla="val 14286"/>
            </a:avLst>
          </a:prstGeom>
          <a:solidFill>
            <a:srgbClr val="EEF2F6"/>
          </a:solidFill>
          <a:ln/>
        </p:spPr>
      </p:sp>
      <p:sp>
        <p:nvSpPr>
          <p:cNvPr id="36" name="Text 34"/>
          <p:cNvSpPr/>
          <p:nvPr/>
        </p:nvSpPr>
        <p:spPr>
          <a:xfrm>
            <a:off x="9171432" y="4645152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inference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 Vision System — IMX500 Edition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 &amp; Alert Logic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engineering details that keep alerts accurate and responsive.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731520" cy="731520"/>
          </a:xfrm>
          <a:prstGeom prst="ellipse">
            <a:avLst/>
          </a:prstGeom>
          <a:solidFill>
            <a:srgbClr val="EDF1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3591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0632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Multi-Person Robustness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352044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several people appear in frame (passengers, pedestrians), the system buckets detections by class and keeps only the largest bounding box — the person closest to the camera, i.e. the driver.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005840" y="4663440"/>
            <a:ext cx="4526280" cy="1005840"/>
          </a:xfrm>
          <a:prstGeom prst="roundRect">
            <a:avLst>
              <a:gd name="adj" fmla="val 5455"/>
            </a:avLst>
          </a:prstGeom>
          <a:solidFill>
            <a:srgbClr val="EEF2F6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48006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MIN_DRIVER_BOX_AREA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88720" y="50749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4000 px²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9400" y="2194560"/>
            <a:ext cx="731520" cy="731520"/>
          </a:xfrm>
          <a:prstGeom prst="ellipse">
            <a:avLst/>
          </a:prstGeom>
          <a:solidFill>
            <a:srgbClr val="FFF1E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35915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29400" y="30632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Per-Channel Beep Cooldown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629400" y="352044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eye, and sunglasses alerts each track their own 2-second cooldown. The instant a condition clears, its cooldown resets to zero — so the next genuine alert beeps immediately, with no stale delay.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629400" y="4663440"/>
            <a:ext cx="4526280" cy="1005840"/>
          </a:xfrm>
          <a:prstGeom prst="roundRect">
            <a:avLst>
              <a:gd name="adj" fmla="val 5455"/>
            </a:avLst>
          </a:prstGeom>
          <a:solidFill>
            <a:srgbClr val="EEF2F6"/>
          </a:solidFill>
          <a:ln/>
        </p:spPr>
      </p:sp>
      <p:sp>
        <p:nvSpPr>
          <p:cNvPr id="18" name="Text 14"/>
          <p:cNvSpPr/>
          <p:nvPr/>
        </p:nvSpPr>
        <p:spPr>
          <a:xfrm>
            <a:off x="6812280" y="48006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BEEP_COOLDOWN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812280" y="50749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 sec  × 3 channels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 Vision System — IMX500 Edition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943600" cy="5943600"/>
          </a:xfrm>
          <a:prstGeom prst="ellipse">
            <a:avLst/>
          </a:prstGeom>
          <a:solidFill>
            <a:srgbClr val="2D4159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3055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9842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Picamera2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840480" y="19842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interface &amp; IMX500 integration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5511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MediaPipe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40480" y="255117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FaceMesh and Holistic landmark detection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264408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1181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Ultralytics YOLO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840480" y="311810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and export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3831336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6850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Sony IMX500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840480" y="36850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On-sensor AI inference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4507992"/>
            <a:ext cx="8138160" cy="0"/>
          </a:xfrm>
          <a:prstGeom prst="line">
            <a:avLst/>
          </a:prstGeom>
          <a:noFill/>
          <a:ln w="12700">
            <a:solidFill>
              <a:srgbClr val="3B4D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736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guidance by Prof. Dr. Thomas Ewender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5102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Deggendorf Institute of Technology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692640" y="4846320"/>
            <a:ext cx="822960" cy="822960"/>
          </a:xfrm>
          <a:prstGeom prst="ellipse">
            <a:avLst/>
          </a:prstGeom>
          <a:solidFill>
            <a:srgbClr val="2D4159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380" y="5052060"/>
            <a:ext cx="411480" cy="41148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10332720" y="5669280"/>
            <a:ext cx="822960" cy="8229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8460" y="5875020"/>
            <a:ext cx="411480" cy="41148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9052560" y="5669280"/>
            <a:ext cx="822960" cy="822960"/>
          </a:xfrm>
          <a:prstGeom prst="ellipse">
            <a:avLst/>
          </a:prstGeom>
          <a:solidFill>
            <a:srgbClr val="2D4159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0" y="587502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Driver Safety Vision System — IMX500 Edition</dc:title>
  <dc:subject>PptxGenJS Presentation</dc:subject>
  <dc:creator>Driver Safety Vision System</dc:creator>
  <cp:lastModifiedBy>Driver Safety Vision System</cp:lastModifiedBy>
  <cp:revision>1</cp:revision>
  <dcterms:created xsi:type="dcterms:W3CDTF">2026-06-30T20:22:40Z</dcterms:created>
  <dcterms:modified xsi:type="dcterms:W3CDTF">2026-06-30T20:22:40Z</dcterms:modified>
</cp:coreProperties>
</file>